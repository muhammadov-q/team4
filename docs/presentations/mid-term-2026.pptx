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BC88A92-61D4-1DF7-C807-5B69BADBD1BC}">
          <p14:sldIdLst>
            <p14:sldId id="256"/>
            <p14:sldId id="257"/>
          </p14:sldIdLst>
        </p14:section>
        <p14:section name="Demonstration" id="{33F5BCED-0932-DE6A-BE39-911044821BC8}">
          <p14:sldIdLst>
            <p14:sldId id="258"/>
          </p14:sldIdLst>
        </p14:section>
        <p14:section name="Technology" id="{A1889421-BEF3-4E08-71CD-8BB17C78EB74}">
          <p14:sldIdLst>
            <p14:sldId id="259"/>
          </p14:sldIdLst>
        </p14:section>
        <p14:section name="Process" id="{D61DCB19-5F12-1E55-D800-572AE62102E2}">
          <p14:sldIdLst>
            <p14:sldId id="260"/>
            <p14:sldId id="261"/>
          </p14:sldIdLst>
        </p14:section>
        <p14:section name="Outlook" id="{6F99FC03-D4C9-DB51-3D66-540764FE625A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41"/>
    <p:restoredTop sz="94610"/>
  </p:normalViewPr>
  <p:slideViewPr>
    <p:cSldViewPr snapToGrid="0" snapToObjects="1">
      <p:cViewPr>
        <p:scale>
          <a:sx n="106" d="100"/>
          <a:sy n="106" d="100"/>
        </p:scale>
        <p:origin x="192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204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ScriptLens as a focused reading and learning tool for students, readers of classical texts, and manuscript researchers. The goal is to connect an Ancient Greek manuscript image with transcription and word-level linguistic context. Do not present planned capabilities as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Roadmap of the talk: target reading experience, technology stack, development workflow, continuous integration, and proposed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the intended end-to-end experience: select an image, preview and crop, recognize the manuscript, view the source beside its transcription, explore translations, lemmas and definitions, and revisit words through history and personal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frontend (Next.js, React, TypeScript, Tailwind, shadcn/ui) and the Kotlin Multiplatform mobile app both talk to the FastAPI backend. The backend runs PyTorch / Hugging Face models and persists via SQLAlchemy + Alembic to SQLite. pytest, Vitest and Playwright run in GitHub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user story defines the product direction; it is not a claim that every capability is already implemented. The Product Owner turns the need into a milestone, the team derives issues, and pull requests close the work with CI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 runs on every pull request and on pushes to develop and main: four pipelines (frontend, backend, mobile, docs). Locally, pre-commit lints and formats staged frontend files and pre-push runs the CI checks for the areas you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 the four items as proposed next steps. Emphasize complete manuscript transcription, word-level linguistic support, personal vocabulary and learning, and user feedback with reviewed corrections.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457200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Title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246120"/>
            <a:ext cx="47548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Subtitle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200" b="1">
                <a:solidFill>
                  <a:schemeClr val="tx1"/>
                </a:solidFill>
              </a:rPr>
              <a:t>Title</a:t>
            </a:r>
            <a:endParaRPr lang="en-US" sz="3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OMP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576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200" b="1">
                <a:solidFill>
                  <a:schemeClr val="tx1"/>
                </a:solidFill>
              </a:rPr>
              <a:t>Title</a:t>
            </a:r>
            <a:endParaRPr lang="en-US" sz="2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9560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</a:rPr>
              <a:t>Section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FUL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Title</a:t>
            </a: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nuscript photo" descr="/tmp/claude-0/-home-claude/17197f10-95bd-5162-904f-deb4bd84845f/scratchpad/src/img-000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86400" y="702797"/>
            <a:ext cx="3657600" cy="3737906"/>
          </a:xfrm>
          <a:prstGeom prst="rect">
            <a:avLst/>
          </a:prstGeom>
        </p:spPr>
      </p:pic>
      <p:sp>
        <p:nvSpPr>
          <p:cNvPr id="3" name="Photo tint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chemeClr val="tx1">
              <a:alpha val="6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hoto edge"/>
          <p:cNvSpPr/>
          <p:nvPr/>
        </p:nvSpPr>
        <p:spPr>
          <a:xfrm>
            <a:off x="5349240" y="0"/>
            <a:ext cx="137160" cy="5143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Kicker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/>
                </a:solidFill>
              </a:rPr>
              <a:t>TEAM 4</a:t>
            </a:r>
            <a:endParaRPr lang="en-US" sz="13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8867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/>
            <a:r>
              <a:rPr lang="en-US" sz="2700" b="1" dirty="0">
                <a:solidFill>
                  <a:schemeClr val="bg1"/>
                </a:solidFill>
              </a:rPr>
              <a:t>From manuscript image
to understanding</a:t>
            </a:r>
          </a:p>
        </p:txBody>
      </p:sp>
      <p:sp>
        <p:nvSpPr>
          <p:cNvPr id="7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117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BoleYi · Andriana · Kobiljon · Priyanka · Tom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28 October 2026</a:t>
            </a:r>
            <a:endParaRPr lang="en-US" sz="15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we will cover</a:t>
            </a:r>
            <a:endParaRPr lang="en-US" sz="3200" dirty="0"/>
          </a:p>
        </p:txBody>
      </p:sp>
      <p:sp>
        <p:nvSpPr>
          <p:cNvPr id="3" name="Agenda 1 circle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Agenda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444752"/>
            <a:ext cx="219456" cy="219456"/>
          </a:xfrm>
          <a:prstGeom prst="rect">
            <a:avLst/>
          </a:prstGeom>
        </p:spPr>
      </p:pic>
      <p:sp>
        <p:nvSpPr>
          <p:cNvPr id="5" name="Agenda 1 number"/>
          <p:cNvSpPr txBox="1"/>
          <p:nvPr/>
        </p:nvSpPr>
        <p:spPr>
          <a:xfrm>
            <a:off x="11887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Agenda 1 text"/>
          <p:cNvSpPr txBox="1"/>
          <p:nvPr/>
        </p:nvSpPr>
        <p:spPr>
          <a:xfrm>
            <a:off x="1691640" y="1325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demonstration</a:t>
            </a:r>
            <a:endParaRPr lang="en-US" sz="1600" dirty="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Select, crop</a:t>
            </a:r>
            <a:r>
              <a:rPr lang="en-US" sz="1200" dirty="0">
                <a:solidFill>
                  <a:schemeClr val="tx2"/>
                </a:solidFill>
              </a:rPr>
              <a:t>, </a:t>
            </a:r>
            <a:r>
              <a:rPr lang="en-US" sz="1200">
                <a:solidFill>
                  <a:schemeClr val="tx2"/>
                </a:solidFill>
              </a:rPr>
              <a:t>transcribe and explore words</a:t>
            </a:r>
            <a:endParaRPr lang="en-US" sz="1600" dirty="0"/>
          </a:p>
        </p:txBody>
      </p:sp>
      <p:sp>
        <p:nvSpPr>
          <p:cNvPr id="7" name="Agenda 2 circle"/>
          <p:cNvSpPr/>
          <p:nvPr/>
        </p:nvSpPr>
        <p:spPr>
          <a:xfrm>
            <a:off x="548640" y="19842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Agenda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103120"/>
            <a:ext cx="219456" cy="219456"/>
          </a:xfrm>
          <a:prstGeom prst="rect">
            <a:avLst/>
          </a:prstGeom>
        </p:spPr>
      </p:pic>
      <p:sp>
        <p:nvSpPr>
          <p:cNvPr id="9" name="Agenda 2 number"/>
          <p:cNvSpPr txBox="1"/>
          <p:nvPr/>
        </p:nvSpPr>
        <p:spPr>
          <a:xfrm>
            <a:off x="118872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Agenda 2 text"/>
          <p:cNvSpPr txBox="1"/>
          <p:nvPr/>
        </p:nvSpPr>
        <p:spPr>
          <a:xfrm>
            <a:off x="1691640" y="19842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Technology stack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Web, mobile, backend, ML, data and CI tooling</a:t>
            </a:r>
            <a:endParaRPr lang="en-US" sz="1600" dirty="0"/>
          </a:p>
        </p:txBody>
      </p:sp>
      <p:sp>
        <p:nvSpPr>
          <p:cNvPr id="11" name="Agenda 3 circle"/>
          <p:cNvSpPr/>
          <p:nvPr/>
        </p:nvSpPr>
        <p:spPr>
          <a:xfrm>
            <a:off x="548640" y="264261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Agenda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2761488"/>
            <a:ext cx="219456" cy="219456"/>
          </a:xfrm>
          <a:prstGeom prst="rect">
            <a:avLst/>
          </a:prstGeom>
        </p:spPr>
      </p:pic>
      <p:sp>
        <p:nvSpPr>
          <p:cNvPr id="13" name="Agenda 3 number"/>
          <p:cNvSpPr txBox="1"/>
          <p:nvPr/>
        </p:nvSpPr>
        <p:spPr>
          <a:xfrm>
            <a:off x="118872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Agenda 3 text"/>
          <p:cNvSpPr txBox="1"/>
          <p:nvPr/>
        </p:nvSpPr>
        <p:spPr>
          <a:xfrm>
            <a:off x="1691640" y="26426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we work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User stories → milestones → issues</a:t>
            </a:r>
            <a:endParaRPr lang="en-US" sz="1600" dirty="0"/>
          </a:p>
        </p:txBody>
      </p:sp>
      <p:sp>
        <p:nvSpPr>
          <p:cNvPr id="15" name="Agenda 4 circle"/>
          <p:cNvSpPr/>
          <p:nvPr/>
        </p:nvSpPr>
        <p:spPr>
          <a:xfrm>
            <a:off x="548640" y="33009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Agenda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3419856"/>
            <a:ext cx="219456" cy="219456"/>
          </a:xfrm>
          <a:prstGeom prst="rect">
            <a:avLst/>
          </a:prstGeom>
        </p:spPr>
      </p:pic>
      <p:sp>
        <p:nvSpPr>
          <p:cNvPr id="17" name="Agenda 4 number"/>
          <p:cNvSpPr txBox="1"/>
          <p:nvPr/>
        </p:nvSpPr>
        <p:spPr>
          <a:xfrm>
            <a:off x="118872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04</a:t>
            </a:r>
            <a:endParaRPr lang="en-US" sz="1600" dirty="0"/>
          </a:p>
        </p:txBody>
      </p:sp>
      <p:sp>
        <p:nvSpPr>
          <p:cNvPr id="18" name="Agenda 4 text"/>
          <p:cNvSpPr txBox="1"/>
          <p:nvPr/>
        </p:nvSpPr>
        <p:spPr>
          <a:xfrm>
            <a:off x="1691640" y="33009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Continuous integration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Checks on every PR, hooks on every commit</a:t>
            </a:r>
            <a:endParaRPr lang="en-US" sz="1600" dirty="0"/>
          </a:p>
        </p:txBody>
      </p:sp>
      <p:sp>
        <p:nvSpPr>
          <p:cNvPr id="19" name="Agenda 5 circle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Agenda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4078224"/>
            <a:ext cx="219456" cy="219456"/>
          </a:xfrm>
          <a:prstGeom prst="rect">
            <a:avLst/>
          </a:prstGeom>
        </p:spPr>
      </p:pic>
      <p:sp>
        <p:nvSpPr>
          <p:cNvPr id="21" name="Agenda 5 number"/>
          <p:cNvSpPr txBox="1"/>
          <p:nvPr/>
        </p:nvSpPr>
        <p:spPr>
          <a:xfrm>
            <a:off x="118872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05</a:t>
            </a:r>
            <a:endParaRPr lang="en-US" sz="1600" dirty="0"/>
          </a:p>
        </p:txBody>
      </p:sp>
      <p:sp>
        <p:nvSpPr>
          <p:cNvPr id="22" name="Agenda 5 text"/>
          <p:cNvSpPr txBox="1"/>
          <p:nvPr/>
        </p:nvSpPr>
        <p:spPr>
          <a:xfrm>
            <a:off x="1691640" y="3959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</a:rPr>
              <a:t>Proposed next </a:t>
            </a:r>
            <a:r>
              <a:rPr lang="en-US" sz="1600" b="1" dirty="0">
                <a:solidFill>
                  <a:schemeClr val="tx1"/>
                </a:solidFill>
              </a:rPr>
              <a:t>steps</a:t>
            </a:r>
            <a:endParaRPr lang="en-US" sz="1600" dirty="0"/>
          </a:p>
          <a:p>
            <a:pPr marL="0" indent="0">
              <a:buNone/>
            </a:pPr>
            <a:r>
              <a:rPr lang="en-US" sz="1200">
                <a:solidFill>
                  <a:schemeClr val="tx2"/>
                </a:solidFill>
              </a:rPr>
              <a:t>Recognition, word insights, vocabulary </a:t>
            </a:r>
            <a:r>
              <a:rPr lang="en-US" sz="1200" dirty="0">
                <a:solidFill>
                  <a:schemeClr val="tx2"/>
                </a:solidFill>
              </a:rPr>
              <a:t>and </a:t>
            </a:r>
            <a:r>
              <a:rPr lang="en-US" sz="1200">
                <a:solidFill>
                  <a:schemeClr val="tx2"/>
                </a:solidFill>
              </a:rPr>
              <a:t>feedback</a:t>
            </a:r>
            <a:endParaRPr lang="en-US" sz="1600" dirty="0"/>
          </a:p>
        </p:txBody>
      </p:sp>
      <p:pic>
        <p:nvPicPr>
          <p:cNvPr id="23" name="Manuscript sample" descr="/tmp/claude-0/-home-claude/17197f10-95bd-5162-904f-deb4bd84845f/scratchpad/src/img-000.png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126480" y="1664537"/>
            <a:ext cx="2468880" cy="2523086"/>
          </a:xfrm>
          <a:prstGeom prst="rect">
            <a:avLst/>
          </a:prstGeom>
        </p:spPr>
      </p:pic>
      <p:sp>
        <p:nvSpPr>
          <p:cNvPr id="24" name="Sample frame"/>
          <p:cNvSpPr/>
          <p:nvPr/>
        </p:nvSpPr>
        <p:spPr>
          <a:xfrm>
            <a:off x="6126480" y="1325880"/>
            <a:ext cx="2468880" cy="3200400"/>
          </a:xfrm>
          <a:prstGeom prst="rect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ample caption"/>
          <p:cNvSpPr txBox="1"/>
          <p:nvPr/>
        </p:nvSpPr>
        <p:spPr>
          <a:xfrm>
            <a:off x="6126480" y="4572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accent3"/>
                </a:solidFill>
              </a:rPr>
              <a:t>Sample input: a 15th-century minuscule hand</a:t>
            </a:r>
            <a:endParaRPr lang="en-US" sz="9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2560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chemeClr val="tx1"/>
                </a:solidFill>
              </a:rPr>
              <a:t>Live demonstration</a:t>
            </a:r>
            <a:endParaRPr lang="en-US" sz="4400" dirty="0"/>
          </a:p>
        </p:txBody>
      </p:sp>
      <p:sp>
        <p:nvSpPr>
          <p:cNvPr id="4" name="Step 1 circle"/>
          <p:cNvSpPr/>
          <p:nvPr/>
        </p:nvSpPr>
        <p:spPr>
          <a:xfrm>
            <a:off x="530352" y="1005840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Step 1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1106424"/>
            <a:ext cx="182880" cy="182880"/>
          </a:xfrm>
          <a:prstGeom prst="rect">
            <a:avLst/>
          </a:prstGeom>
        </p:spPr>
      </p:pic>
      <p:sp>
        <p:nvSpPr>
          <p:cNvPr id="6" name="Step 1 text"/>
          <p:cNvSpPr txBox="1"/>
          <p:nvPr/>
        </p:nvSpPr>
        <p:spPr>
          <a:xfrm>
            <a:off x="1033271" y="98755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Select image</a:t>
            </a:r>
            <a:endParaRPr lang="en-US" sz="1400" dirty="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upload or capture</a:t>
            </a:r>
            <a:endParaRPr lang="en-US" sz="1400" dirty="0"/>
          </a:p>
        </p:txBody>
      </p:sp>
      <p:sp>
        <p:nvSpPr>
          <p:cNvPr id="8" name="Step 2 circle"/>
          <p:cNvSpPr/>
          <p:nvPr/>
        </p:nvSpPr>
        <p:spPr>
          <a:xfrm>
            <a:off x="530352" y="1664208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Step 2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1764792"/>
            <a:ext cx="182880" cy="182880"/>
          </a:xfrm>
          <a:prstGeom prst="rect">
            <a:avLst/>
          </a:prstGeom>
        </p:spPr>
      </p:pic>
      <p:sp>
        <p:nvSpPr>
          <p:cNvPr id="10" name="Step 2 text"/>
          <p:cNvSpPr txBox="1"/>
          <p:nvPr/>
        </p:nvSpPr>
        <p:spPr>
          <a:xfrm>
            <a:off x="1033271" y="164592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Preview &amp; crop</a:t>
            </a:r>
            <a:endParaRPr lang="en-US" sz="1400" dirty="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confirm the region</a:t>
            </a:r>
            <a:endParaRPr lang="en-US" sz="1400" dirty="0"/>
          </a:p>
        </p:txBody>
      </p:sp>
      <p:sp>
        <p:nvSpPr>
          <p:cNvPr id="12" name="Step 3 circle"/>
          <p:cNvSpPr/>
          <p:nvPr/>
        </p:nvSpPr>
        <p:spPr>
          <a:xfrm>
            <a:off x="530352" y="2322576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Step 3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" y="2423160"/>
            <a:ext cx="182880" cy="182880"/>
          </a:xfrm>
          <a:prstGeom prst="rect">
            <a:avLst/>
          </a:prstGeom>
        </p:spPr>
      </p:pic>
      <p:sp>
        <p:nvSpPr>
          <p:cNvPr id="14" name="Step 3 text"/>
          <p:cNvSpPr txBox="1"/>
          <p:nvPr/>
        </p:nvSpPr>
        <p:spPr>
          <a:xfrm>
            <a:off x="1033271" y="23042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Recognize</a:t>
            </a:r>
            <a:endParaRPr lang="en-US" sz="1400" dirty="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transcribe the text</a:t>
            </a:r>
            <a:endParaRPr lang="en-US" sz="1400" dirty="0"/>
          </a:p>
        </p:txBody>
      </p:sp>
      <p:sp>
        <p:nvSpPr>
          <p:cNvPr id="16" name="Step 4 circle"/>
          <p:cNvSpPr/>
          <p:nvPr/>
        </p:nvSpPr>
        <p:spPr>
          <a:xfrm>
            <a:off x="530352" y="2980944"/>
            <a:ext cx="384048" cy="38404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Step 4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" y="3081527"/>
            <a:ext cx="182880" cy="182880"/>
          </a:xfrm>
          <a:prstGeom prst="rect">
            <a:avLst/>
          </a:prstGeom>
        </p:spPr>
      </p:pic>
      <p:sp>
        <p:nvSpPr>
          <p:cNvPr id="18" name="Step 4 text"/>
          <p:cNvSpPr txBox="1"/>
          <p:nvPr/>
        </p:nvSpPr>
        <p:spPr>
          <a:xfrm>
            <a:off x="1033271" y="296265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Read together</a:t>
            </a:r>
            <a:endParaRPr lang="en-US" sz="1400" dirty="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image + transcription</a:t>
            </a:r>
            <a:endParaRPr lang="en-US" sz="1400" dirty="0"/>
          </a:p>
        </p:txBody>
      </p:sp>
      <p:sp>
        <p:nvSpPr>
          <p:cNvPr id="19" name="Step 5 circle"/>
          <p:cNvSpPr/>
          <p:nvPr/>
        </p:nvSpPr>
        <p:spPr>
          <a:xfrm>
            <a:off x="530352" y="3639312"/>
            <a:ext cx="384048" cy="3840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Step 5 icon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" y="3739896"/>
            <a:ext cx="182880" cy="182880"/>
          </a:xfrm>
          <a:prstGeom prst="rect">
            <a:avLst/>
          </a:prstGeom>
        </p:spPr>
      </p:pic>
      <p:sp>
        <p:nvSpPr>
          <p:cNvPr id="21" name="Step 5 text"/>
          <p:cNvSpPr txBox="1"/>
          <p:nvPr/>
        </p:nvSpPr>
        <p:spPr>
          <a:xfrm>
            <a:off x="1033271" y="3621024"/>
            <a:ext cx="2487168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b="1">
                <a:solidFill>
                  <a:schemeClr val="tx1"/>
                </a:solidFill>
              </a:rPr>
              <a:t>Explore &amp; revisit</a:t>
            </a:r>
            <a:endParaRPr sz="1400" b="1" dirty="0">
              <a:solidFill>
                <a:schemeClr val="tx1"/>
              </a:solidFill>
            </a:endParaRPr>
          </a:p>
          <a:p>
            <a:r>
              <a:rPr lang="en-US" sz="1100">
                <a:solidFill>
                  <a:schemeClr val="tx1"/>
                </a:solidFill>
              </a:rPr>
              <a:t>translation · lemma · definition </a:t>
            </a:r>
            <a:endParaRPr sz="1100" dirty="0">
              <a:solidFill>
                <a:schemeClr val="tx1"/>
              </a:solidFill>
            </a:endParaRPr>
          </a:p>
        </p:txBody>
      </p:sp>
      <p:pic>
        <p:nvPicPr>
          <p:cNvPr id="3" name="team4demo2_97506A96-FFE8-433D-90BB-B9106143B45F.mp4">
            <a:hlinkClick r:id="" action="ppaction://media"/>
            <a:extLst>
              <a:ext uri="{FF2B5EF4-FFF2-40B4-BE49-F238E27FC236}">
                <a16:creationId xmlns:a16="http://schemas.microsoft.com/office/drawing/2014/main" id="{D5F5FABD-13D6-6916-AE0F-B550BF21E7D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369564" y="822960"/>
            <a:ext cx="5294376" cy="341487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576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Technology stack</a:t>
            </a:r>
            <a:endParaRPr lang="en-US" sz="2200" dirty="0"/>
          </a:p>
        </p:txBody>
      </p:sp>
      <p:sp>
        <p:nvSpPr>
          <p:cNvPr id="3" name="Web frontend group"/>
          <p:cNvSpPr/>
          <p:nvPr/>
        </p:nvSpPr>
        <p:spPr>
          <a:xfrm>
            <a:off x="365760" y="868680"/>
            <a:ext cx="2286000" cy="2103120"/>
          </a:xfrm>
          <a:prstGeom prst="roundRect">
            <a:avLst>
              <a:gd name="adj" fmla="val 9565"/>
            </a:avLst>
          </a:prstGeom>
          <a:solidFill>
            <a:srgbClr val="E4F1FB"/>
          </a:solidFill>
          <a:ln w="12700">
            <a:solidFill>
              <a:srgbClr val="E4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Web Frontend title"/>
          <p:cNvSpPr txBox="1"/>
          <p:nvPr/>
        </p:nvSpPr>
        <p:spPr>
          <a:xfrm>
            <a:off x="365760" y="978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F8B"/>
                </a:solidFill>
              </a:rPr>
              <a:t>Web Frontend</a:t>
            </a:r>
            <a:endParaRPr lang="en-US" sz="1400" dirty="0"/>
          </a:p>
        </p:txBody>
      </p:sp>
      <p:pic>
        <p:nvPicPr>
          <p:cNvPr id="5" name="Next.js logo" descr="/tmp/claude-0/-home-claude/17197f10-95bd-5162-904f-deb4bd84845f/scratchpad/logos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57200" cy="457200"/>
          </a:xfrm>
          <a:prstGeom prst="rect">
            <a:avLst/>
          </a:prstGeom>
        </p:spPr>
      </p:pic>
      <p:sp>
        <p:nvSpPr>
          <p:cNvPr id="6" name="Next.js label"/>
          <p:cNvSpPr txBox="1"/>
          <p:nvPr/>
        </p:nvSpPr>
        <p:spPr>
          <a:xfrm>
            <a:off x="320040" y="18562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Next.js</a:t>
            </a:r>
            <a:endParaRPr lang="en-US" sz="1100" dirty="0"/>
          </a:p>
        </p:txBody>
      </p:sp>
      <p:pic>
        <p:nvPicPr>
          <p:cNvPr id="7" name="React logo" descr="/tmp/claude-0/-home-claude/17197f10-95bd-5162-904f-deb4bd84845f/scratchpad/logos/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371600"/>
            <a:ext cx="457200" cy="457200"/>
          </a:xfrm>
          <a:prstGeom prst="rect">
            <a:avLst/>
          </a:prstGeom>
        </p:spPr>
      </p:pic>
      <p:sp>
        <p:nvSpPr>
          <p:cNvPr id="8" name="React label"/>
          <p:cNvSpPr txBox="1"/>
          <p:nvPr/>
        </p:nvSpPr>
        <p:spPr>
          <a:xfrm>
            <a:off x="1051560" y="18562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React</a:t>
            </a:r>
            <a:endParaRPr lang="en-US" sz="1100" dirty="0"/>
          </a:p>
        </p:txBody>
      </p:sp>
      <p:pic>
        <p:nvPicPr>
          <p:cNvPr id="9" name="TypeScript logo" descr="/tmp/claude-0/-home-claude/17197f10-95bd-5162-904f-deb4bd84845f/scratchpad/logos/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1371600"/>
            <a:ext cx="457200" cy="457200"/>
          </a:xfrm>
          <a:prstGeom prst="rect">
            <a:avLst/>
          </a:prstGeom>
        </p:spPr>
      </p:pic>
      <p:sp>
        <p:nvSpPr>
          <p:cNvPr id="10" name="TypeScript label"/>
          <p:cNvSpPr txBox="1"/>
          <p:nvPr/>
        </p:nvSpPr>
        <p:spPr>
          <a:xfrm>
            <a:off x="1783080" y="18562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TypeScript</a:t>
            </a:r>
            <a:endParaRPr lang="en-US" sz="1100" dirty="0"/>
          </a:p>
        </p:txBody>
      </p:sp>
      <p:pic>
        <p:nvPicPr>
          <p:cNvPr id="11" name="Tailwind CSS logo" descr="/tmp/claude-0/-home-claude/17197f10-95bd-5162-904f-deb4bd84845f/scratchpad/logos/imag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148840"/>
            <a:ext cx="457200" cy="457200"/>
          </a:xfrm>
          <a:prstGeom prst="rect">
            <a:avLst/>
          </a:prstGeom>
        </p:spPr>
      </p:pic>
      <p:sp>
        <p:nvSpPr>
          <p:cNvPr id="12" name="Tailwind CSS label"/>
          <p:cNvSpPr txBox="1"/>
          <p:nvPr/>
        </p:nvSpPr>
        <p:spPr>
          <a:xfrm>
            <a:off x="594360" y="26334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Tailwind CSS</a:t>
            </a:r>
            <a:endParaRPr lang="en-US" sz="1100" dirty="0"/>
          </a:p>
        </p:txBody>
      </p:sp>
      <p:pic>
        <p:nvPicPr>
          <p:cNvPr id="13" name="shadcn/ui logo" descr="/tmp/claude-0/-home-claude/17197f10-95bd-5162-904f-deb4bd84845f/scratchpad/logos/imag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60" y="2148840"/>
            <a:ext cx="457200" cy="457200"/>
          </a:xfrm>
          <a:prstGeom prst="rect">
            <a:avLst/>
          </a:prstGeom>
        </p:spPr>
      </p:pic>
      <p:sp>
        <p:nvSpPr>
          <p:cNvPr id="14" name="shadcn/ui label"/>
          <p:cNvSpPr txBox="1"/>
          <p:nvPr/>
        </p:nvSpPr>
        <p:spPr>
          <a:xfrm>
            <a:off x="1508760" y="26334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shadcn/ui</a:t>
            </a:r>
            <a:endParaRPr lang="en-US" sz="1100" dirty="0"/>
          </a:p>
        </p:txBody>
      </p:sp>
      <p:sp>
        <p:nvSpPr>
          <p:cNvPr id="15" name="Backend group"/>
          <p:cNvSpPr/>
          <p:nvPr/>
        </p:nvSpPr>
        <p:spPr>
          <a:xfrm>
            <a:off x="3383280" y="868680"/>
            <a:ext cx="1874520" cy="2103120"/>
          </a:xfrm>
          <a:prstGeom prst="roundRect">
            <a:avLst>
              <a:gd name="adj" fmla="val 10732"/>
            </a:avLst>
          </a:prstGeom>
          <a:solidFill>
            <a:srgbClr val="E6F5EA"/>
          </a:solidFill>
          <a:ln w="12700">
            <a:solidFill>
              <a:srgbClr val="E6F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ackend API title"/>
          <p:cNvSpPr txBox="1"/>
          <p:nvPr/>
        </p:nvSpPr>
        <p:spPr>
          <a:xfrm>
            <a:off x="3383280" y="9784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6B3A"/>
                </a:solidFill>
              </a:rPr>
              <a:t>Backend API</a:t>
            </a:r>
            <a:endParaRPr lang="en-US" sz="1400" dirty="0"/>
          </a:p>
        </p:txBody>
      </p:sp>
      <p:pic>
        <p:nvPicPr>
          <p:cNvPr id="17" name="FastAPI logo" descr="/tmp/claude-0/-home-claude/17197f10-95bd-5162-904f-deb4bd84845f/scratchpad/logos/image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1940" y="1371600"/>
            <a:ext cx="457200" cy="457200"/>
          </a:xfrm>
          <a:prstGeom prst="rect">
            <a:avLst/>
          </a:prstGeom>
        </p:spPr>
      </p:pic>
      <p:sp>
        <p:nvSpPr>
          <p:cNvPr id="18" name="FastAPI label"/>
          <p:cNvSpPr txBox="1"/>
          <p:nvPr/>
        </p:nvSpPr>
        <p:spPr>
          <a:xfrm>
            <a:off x="3863340" y="18562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FastAPI</a:t>
            </a:r>
            <a:endParaRPr lang="en-US" sz="1100" dirty="0"/>
          </a:p>
        </p:txBody>
      </p:sp>
      <p:pic>
        <p:nvPicPr>
          <p:cNvPr id="19" name="Python logo" descr="/tmp/claude-0/-home-claude/17197f10-95bd-5162-904f-deb4bd84845f/scratchpad/logos/image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880" y="2148840"/>
            <a:ext cx="457200" cy="457200"/>
          </a:xfrm>
          <a:prstGeom prst="rect">
            <a:avLst/>
          </a:prstGeom>
        </p:spPr>
      </p:pic>
      <p:sp>
        <p:nvSpPr>
          <p:cNvPr id="20" name="Python label"/>
          <p:cNvSpPr txBox="1"/>
          <p:nvPr/>
        </p:nvSpPr>
        <p:spPr>
          <a:xfrm>
            <a:off x="3383280" y="26334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Python</a:t>
            </a:r>
            <a:endParaRPr lang="en-US" sz="1100" dirty="0"/>
          </a:p>
        </p:txBody>
      </p:sp>
      <p:pic>
        <p:nvPicPr>
          <p:cNvPr id="21" name="Pydantic logo" descr="/tmp/claude-0/-home-claude/17197f10-95bd-5162-904f-deb4bd84845f/scratchpad/logos/image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2148840"/>
            <a:ext cx="457200" cy="457200"/>
          </a:xfrm>
          <a:prstGeom prst="rect">
            <a:avLst/>
          </a:prstGeom>
        </p:spPr>
      </p:pic>
      <p:sp>
        <p:nvSpPr>
          <p:cNvPr id="22" name="Pydantic label"/>
          <p:cNvSpPr txBox="1"/>
          <p:nvPr/>
        </p:nvSpPr>
        <p:spPr>
          <a:xfrm>
            <a:off x="4343400" y="26334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Pydantic</a:t>
            </a:r>
            <a:endParaRPr lang="en-US" sz="1100" dirty="0"/>
          </a:p>
        </p:txBody>
      </p:sp>
      <p:sp>
        <p:nvSpPr>
          <p:cNvPr id="23" name="ML group"/>
          <p:cNvSpPr/>
          <p:nvPr/>
        </p:nvSpPr>
        <p:spPr>
          <a:xfrm>
            <a:off x="5486400" y="868680"/>
            <a:ext cx="1691640" cy="2103120"/>
          </a:xfrm>
          <a:prstGeom prst="roundRect">
            <a:avLst>
              <a:gd name="adj" fmla="val 11892"/>
            </a:avLst>
          </a:prstGeom>
          <a:solidFill>
            <a:srgbClr val="FBE9E6"/>
          </a:solidFill>
          <a:ln w="12700">
            <a:solidFill>
              <a:srgbClr val="FBE9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Machine Learning title"/>
          <p:cNvSpPr txBox="1"/>
          <p:nvPr/>
        </p:nvSpPr>
        <p:spPr>
          <a:xfrm>
            <a:off x="5486400" y="978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2C1E"/>
                </a:solidFill>
              </a:rPr>
              <a:t>Machine Learning</a:t>
            </a:r>
            <a:endParaRPr lang="en-US" sz="1400" dirty="0"/>
          </a:p>
        </p:txBody>
      </p:sp>
      <p:pic>
        <p:nvPicPr>
          <p:cNvPr id="25" name="PyTorch logo" descr="/tmp/claude-0/-home-claude/17197f10-95bd-5162-904f-deb4bd84845f/scratchpad/logos/image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3620" y="1371600"/>
            <a:ext cx="457200" cy="457200"/>
          </a:xfrm>
          <a:prstGeom prst="rect">
            <a:avLst/>
          </a:prstGeom>
        </p:spPr>
      </p:pic>
      <p:sp>
        <p:nvSpPr>
          <p:cNvPr id="26" name="PyTorch label"/>
          <p:cNvSpPr txBox="1"/>
          <p:nvPr/>
        </p:nvSpPr>
        <p:spPr>
          <a:xfrm>
            <a:off x="5875020" y="18562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PyTorch</a:t>
            </a:r>
            <a:endParaRPr lang="en-US" sz="1100" dirty="0"/>
          </a:p>
        </p:txBody>
      </p:sp>
      <p:pic>
        <p:nvPicPr>
          <p:cNvPr id="27" name="Hugging Face models logo" descr="/tmp/claude-0/-home-claude/17197f10-95bd-5162-904f-deb4bd84845f/scratchpad/logos/image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3620" y="2165806"/>
            <a:ext cx="457200" cy="423267"/>
          </a:xfrm>
          <a:prstGeom prst="rect">
            <a:avLst/>
          </a:prstGeom>
        </p:spPr>
      </p:pic>
      <p:sp>
        <p:nvSpPr>
          <p:cNvPr id="28" name="Hugging Face models label"/>
          <p:cNvSpPr txBox="1"/>
          <p:nvPr/>
        </p:nvSpPr>
        <p:spPr>
          <a:xfrm>
            <a:off x="5554980" y="26334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Hugging Face models</a:t>
            </a:r>
            <a:endParaRPr lang="en-US" sz="1100" dirty="0"/>
          </a:p>
        </p:txBody>
      </p:sp>
      <p:sp>
        <p:nvSpPr>
          <p:cNvPr id="29" name="Data group"/>
          <p:cNvSpPr/>
          <p:nvPr/>
        </p:nvSpPr>
        <p:spPr>
          <a:xfrm>
            <a:off x="7406640" y="868680"/>
            <a:ext cx="1371600" cy="2103120"/>
          </a:xfrm>
          <a:prstGeom prst="roundRect">
            <a:avLst>
              <a:gd name="adj" fmla="val 14667"/>
            </a:avLst>
          </a:prstGeom>
          <a:solidFill>
            <a:srgbClr val="ECE8F8"/>
          </a:solidFill>
          <a:ln w="12700">
            <a:solidFill>
              <a:srgbClr val="ECE8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Data Layer title"/>
          <p:cNvSpPr txBox="1"/>
          <p:nvPr/>
        </p:nvSpPr>
        <p:spPr>
          <a:xfrm>
            <a:off x="7406640" y="9784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2E8C"/>
                </a:solidFill>
              </a:rPr>
              <a:t>Data Layer</a:t>
            </a:r>
            <a:endParaRPr lang="en-US" sz="1400" dirty="0"/>
          </a:p>
        </p:txBody>
      </p:sp>
      <p:pic>
        <p:nvPicPr>
          <p:cNvPr id="31" name="SQLite logo" descr="/tmp/claude-0/-home-claude/17197f10-95bd-5162-904f-deb4bd84845f/scratchpad/logos/image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3800" y="1371600"/>
            <a:ext cx="365760" cy="365760"/>
          </a:xfrm>
          <a:prstGeom prst="rect">
            <a:avLst/>
          </a:prstGeom>
        </p:spPr>
      </p:pic>
      <p:sp>
        <p:nvSpPr>
          <p:cNvPr id="32" name="SQLite label"/>
          <p:cNvSpPr txBox="1"/>
          <p:nvPr/>
        </p:nvSpPr>
        <p:spPr>
          <a:xfrm>
            <a:off x="8001000" y="1371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SQLite</a:t>
            </a:r>
            <a:endParaRPr lang="en-US" sz="1100" dirty="0"/>
          </a:p>
        </p:txBody>
      </p:sp>
      <p:pic>
        <p:nvPicPr>
          <p:cNvPr id="33" name="SQLAlchemy logo" descr="/tmp/claude-0/-home-claude/17197f10-95bd-5162-904f-deb4bd84845f/scratchpad/logos/image2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43800" y="1884878"/>
            <a:ext cx="365760" cy="345043"/>
          </a:xfrm>
          <a:prstGeom prst="rect">
            <a:avLst/>
          </a:prstGeom>
        </p:spPr>
      </p:pic>
      <p:sp>
        <p:nvSpPr>
          <p:cNvPr id="34" name="SQLAlchemy label"/>
          <p:cNvSpPr txBox="1"/>
          <p:nvPr/>
        </p:nvSpPr>
        <p:spPr>
          <a:xfrm>
            <a:off x="8001000" y="1874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SQLAlchemy</a:t>
            </a:r>
            <a:endParaRPr lang="en-US" sz="1100" dirty="0"/>
          </a:p>
        </p:txBody>
      </p:sp>
      <p:pic>
        <p:nvPicPr>
          <p:cNvPr id="35" name="Alembic logo" descr="/tmp/claude-0/-home-claude/17197f10-95bd-5162-904f-deb4bd84845f/scratchpad/logos/image2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3800" y="2377440"/>
            <a:ext cx="365760" cy="365760"/>
          </a:xfrm>
          <a:prstGeom prst="rect">
            <a:avLst/>
          </a:prstGeom>
        </p:spPr>
      </p:pic>
      <p:sp>
        <p:nvSpPr>
          <p:cNvPr id="36" name="Alembic label"/>
          <p:cNvSpPr txBox="1"/>
          <p:nvPr/>
        </p:nvSpPr>
        <p:spPr>
          <a:xfrm>
            <a:off x="800100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Alembic</a:t>
            </a:r>
            <a:endParaRPr lang="en-US" sz="1100" dirty="0"/>
          </a:p>
        </p:txBody>
      </p:sp>
      <p:sp>
        <p:nvSpPr>
          <p:cNvPr id="37" name="Web request arrow"/>
          <p:cNvSpPr/>
          <p:nvPr/>
        </p:nvSpPr>
        <p:spPr>
          <a:xfrm>
            <a:off x="2788920" y="1737360"/>
            <a:ext cx="457200" cy="0"/>
          </a:xfrm>
          <a:prstGeom prst="line">
            <a:avLst/>
          </a:prstGeom>
          <a:noFill/>
          <a:ln w="15875">
            <a:solidFill>
              <a:srgbClr val="8C8A7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quest API 2.9"/>
          <p:cNvSpPr txBox="1"/>
          <p:nvPr/>
        </p:nvSpPr>
        <p:spPr>
          <a:xfrm>
            <a:off x="2651760" y="1463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3"/>
                </a:solidFill>
              </a:rPr>
              <a:t>Request API</a:t>
            </a:r>
            <a:endParaRPr lang="en-US" sz="1000" dirty="0"/>
          </a:p>
        </p:txBody>
      </p:sp>
      <p:sp>
        <p:nvSpPr>
          <p:cNvPr id="39" name="Web response arrow"/>
          <p:cNvSpPr/>
          <p:nvPr/>
        </p:nvSpPr>
        <p:spPr>
          <a:xfrm>
            <a:off x="2788920" y="2194560"/>
            <a:ext cx="457200" cy="0"/>
          </a:xfrm>
          <a:prstGeom prst="line">
            <a:avLst/>
          </a:prstGeom>
          <a:noFill/>
          <a:ln w="15875">
            <a:solidFill>
              <a:srgbClr val="8C8A7E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0" name="API Response 2.85"/>
          <p:cNvSpPr txBox="1"/>
          <p:nvPr/>
        </p:nvSpPr>
        <p:spPr>
          <a:xfrm>
            <a:off x="2606040" y="2212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3"/>
                </a:solidFill>
              </a:rPr>
              <a:t>API Response</a:t>
            </a:r>
            <a:endParaRPr lang="en-US" sz="1000" dirty="0"/>
          </a:p>
        </p:txBody>
      </p:sp>
      <p:sp>
        <p:nvSpPr>
          <p:cNvPr id="41" name="Backend ML link"/>
          <p:cNvSpPr/>
          <p:nvPr/>
        </p:nvSpPr>
        <p:spPr>
          <a:xfrm>
            <a:off x="5285232" y="1965960"/>
            <a:ext cx="173736" cy="0"/>
          </a:xfrm>
          <a:prstGeom prst="line">
            <a:avLst/>
          </a:prstGeom>
          <a:noFill/>
          <a:ln w="15875">
            <a:solidFill>
              <a:srgbClr val="8C8A7E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Backend Data link"/>
          <p:cNvSpPr/>
          <p:nvPr/>
        </p:nvSpPr>
        <p:spPr>
          <a:xfrm>
            <a:off x="7205472" y="1965960"/>
            <a:ext cx="173736" cy="0"/>
          </a:xfrm>
          <a:prstGeom prst="line">
            <a:avLst/>
          </a:prstGeom>
          <a:noFill/>
          <a:ln w="15875">
            <a:solidFill>
              <a:srgbClr val="8C8A7E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Mobile group"/>
          <p:cNvSpPr/>
          <p:nvPr/>
        </p:nvSpPr>
        <p:spPr>
          <a:xfrm>
            <a:off x="1828800" y="3291840"/>
            <a:ext cx="5486400" cy="1188720"/>
          </a:xfrm>
          <a:prstGeom prst="roundRect">
            <a:avLst>
              <a:gd name="adj" fmla="val 16923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Mobile Application title"/>
          <p:cNvSpPr txBox="1"/>
          <p:nvPr/>
        </p:nvSpPr>
        <p:spPr>
          <a:xfrm>
            <a:off x="1828800" y="3364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4B12"/>
                </a:solidFill>
              </a:rPr>
              <a:t>Mobile Application</a:t>
            </a:r>
            <a:endParaRPr lang="en-US" sz="1400" dirty="0"/>
          </a:p>
        </p:txBody>
      </p:sp>
      <p:pic>
        <p:nvPicPr>
          <p:cNvPr id="45" name="Kotlin Multiplatform logo" descr="/tmp/claude-0/-home-claude/17197f10-95bd-5162-904f-deb4bd84845f/scratchpad/logos/image1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85416" y="3657600"/>
            <a:ext cx="384048" cy="384048"/>
          </a:xfrm>
          <a:prstGeom prst="rect">
            <a:avLst/>
          </a:prstGeom>
        </p:spPr>
      </p:pic>
      <p:sp>
        <p:nvSpPr>
          <p:cNvPr id="46" name="Kotlin Multiplatform label"/>
          <p:cNvSpPr txBox="1"/>
          <p:nvPr/>
        </p:nvSpPr>
        <p:spPr>
          <a:xfrm>
            <a:off x="1851660" y="40690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Kotlin Multiplatform</a:t>
            </a:r>
            <a:endParaRPr lang="en-US" sz="1100" dirty="0"/>
          </a:p>
        </p:txBody>
      </p:sp>
      <p:pic>
        <p:nvPicPr>
          <p:cNvPr id="47" name="Compose Multiplatform logo" descr="/tmp/claude-0/-home-claude/17197f10-95bd-5162-904f-deb4bd84845f/scratchpad/logos/image1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06699" y="3657600"/>
            <a:ext cx="336042" cy="384048"/>
          </a:xfrm>
          <a:prstGeom prst="rect">
            <a:avLst/>
          </a:prstGeom>
        </p:spPr>
      </p:pic>
      <p:sp>
        <p:nvSpPr>
          <p:cNvPr id="48" name="Compose Multiplatform label"/>
          <p:cNvSpPr txBox="1"/>
          <p:nvPr/>
        </p:nvSpPr>
        <p:spPr>
          <a:xfrm>
            <a:off x="2948940" y="40690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Compose Multiplatform</a:t>
            </a:r>
            <a:endParaRPr lang="en-US" sz="1100" dirty="0"/>
          </a:p>
        </p:txBody>
      </p:sp>
      <p:pic>
        <p:nvPicPr>
          <p:cNvPr id="49" name="Ktor Client (API) logo" descr="/tmp/claude-0/-home-claude/17197f10-95bd-5162-904f-deb4bd84845f/scratchpad/logos/image1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79976" y="3657600"/>
            <a:ext cx="384048" cy="384048"/>
          </a:xfrm>
          <a:prstGeom prst="rect">
            <a:avLst/>
          </a:prstGeom>
        </p:spPr>
      </p:pic>
      <p:sp>
        <p:nvSpPr>
          <p:cNvPr id="50" name="Ktor Client (API) label"/>
          <p:cNvSpPr txBox="1"/>
          <p:nvPr/>
        </p:nvSpPr>
        <p:spPr>
          <a:xfrm>
            <a:off x="4046220" y="415137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Ktor Client (API)</a:t>
            </a:r>
            <a:endParaRPr lang="en-US" sz="1100" dirty="0"/>
          </a:p>
        </p:txBody>
      </p:sp>
      <p:pic>
        <p:nvPicPr>
          <p:cNvPr id="51" name="Android logo" descr="/tmp/claude-0/-home-claude/17197f10-95bd-5162-904f-deb4bd84845f/scratchpad/logos/image13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77256" y="3657600"/>
            <a:ext cx="384048" cy="384048"/>
          </a:xfrm>
          <a:prstGeom prst="rect">
            <a:avLst/>
          </a:prstGeom>
        </p:spPr>
      </p:pic>
      <p:sp>
        <p:nvSpPr>
          <p:cNvPr id="52" name="Android label"/>
          <p:cNvSpPr txBox="1"/>
          <p:nvPr/>
        </p:nvSpPr>
        <p:spPr>
          <a:xfrm>
            <a:off x="5143500" y="416509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Android</a:t>
            </a:r>
            <a:endParaRPr lang="en-US" sz="1100" dirty="0"/>
          </a:p>
        </p:txBody>
      </p:sp>
      <p:pic>
        <p:nvPicPr>
          <p:cNvPr id="53" name="iOS logo" descr="/tmp/claude-0/-home-claude/17197f10-95bd-5162-904f-deb4bd84845f/scratchpad/logos/image12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74536" y="3657600"/>
            <a:ext cx="384048" cy="384048"/>
          </a:xfrm>
          <a:prstGeom prst="rect">
            <a:avLst/>
          </a:prstGeom>
        </p:spPr>
      </p:pic>
      <p:sp>
        <p:nvSpPr>
          <p:cNvPr id="54" name="iOS label"/>
          <p:cNvSpPr txBox="1"/>
          <p:nvPr/>
        </p:nvSpPr>
        <p:spPr>
          <a:xfrm>
            <a:off x="6240780" y="415442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iOS</a:t>
            </a:r>
            <a:endParaRPr lang="en-US" sz="1100" dirty="0"/>
          </a:p>
        </p:txBody>
      </p:sp>
      <p:sp>
        <p:nvSpPr>
          <p:cNvPr id="57" name="Mobile response arrow"/>
          <p:cNvSpPr/>
          <p:nvPr/>
        </p:nvSpPr>
        <p:spPr>
          <a:xfrm>
            <a:off x="4572000" y="2971800"/>
            <a:ext cx="0" cy="320040"/>
          </a:xfrm>
          <a:prstGeom prst="line">
            <a:avLst/>
          </a:prstGeom>
          <a:noFill/>
          <a:ln w="15875">
            <a:solidFill>
              <a:srgbClr val="8C8A7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API Response 5.05"/>
          <p:cNvSpPr txBox="1"/>
          <p:nvPr/>
        </p:nvSpPr>
        <p:spPr>
          <a:xfrm>
            <a:off x="4617720" y="2999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3"/>
                </a:solidFill>
              </a:rPr>
              <a:t>API Response</a:t>
            </a:r>
            <a:endParaRPr lang="en-US" sz="1000" dirty="0"/>
          </a:p>
        </p:txBody>
      </p:sp>
      <p:sp>
        <p:nvSpPr>
          <p:cNvPr id="59" name="Testing group"/>
          <p:cNvSpPr/>
          <p:nvPr/>
        </p:nvSpPr>
        <p:spPr>
          <a:xfrm>
            <a:off x="365760" y="4572000"/>
            <a:ext cx="8412480" cy="384048"/>
          </a:xfrm>
          <a:prstGeom prst="roundRect">
            <a:avLst>
              <a:gd name="adj" fmla="val 52381"/>
            </a:avLst>
          </a:prstGeom>
          <a:solidFill>
            <a:srgbClr val="EEEEEA"/>
          </a:solidFill>
          <a:ln w="12700">
            <a:solidFill>
              <a:srgbClr val="EEE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sting title"/>
          <p:cNvSpPr txBox="1"/>
          <p:nvPr/>
        </p:nvSpPr>
        <p:spPr>
          <a:xfrm>
            <a:off x="548640" y="4572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Testing &amp; CI/CD</a:t>
            </a:r>
            <a:endParaRPr lang="en-US" sz="1400" dirty="0"/>
          </a:p>
        </p:txBody>
      </p:sp>
      <p:pic>
        <p:nvPicPr>
          <p:cNvPr id="61" name="pytest logo" descr="/tmp/claude-0/-home-claude/17197f10-95bd-5162-904f-deb4bd84845f/scratchpad/logos/image18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68880" y="4626864"/>
            <a:ext cx="329184" cy="329184"/>
          </a:xfrm>
          <a:prstGeom prst="rect">
            <a:avLst/>
          </a:prstGeom>
        </p:spPr>
      </p:pic>
      <p:sp>
        <p:nvSpPr>
          <p:cNvPr id="62" name="pytest label"/>
          <p:cNvSpPr txBox="1"/>
          <p:nvPr/>
        </p:nvSpPr>
        <p:spPr>
          <a:xfrm>
            <a:off x="2889504" y="46268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pytest</a:t>
            </a:r>
            <a:endParaRPr lang="en-US" sz="1100" dirty="0"/>
          </a:p>
        </p:txBody>
      </p:sp>
      <p:pic>
        <p:nvPicPr>
          <p:cNvPr id="63" name="Vitest logo" descr="/tmp/claude-0/-home-claude/17197f10-95bd-5162-904f-deb4bd84845f/scratchpad/logos/image1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23360" y="4626864"/>
            <a:ext cx="329184" cy="329184"/>
          </a:xfrm>
          <a:prstGeom prst="rect">
            <a:avLst/>
          </a:prstGeom>
        </p:spPr>
      </p:pic>
      <p:sp>
        <p:nvSpPr>
          <p:cNvPr id="64" name="Vitest label"/>
          <p:cNvSpPr txBox="1"/>
          <p:nvPr/>
        </p:nvSpPr>
        <p:spPr>
          <a:xfrm>
            <a:off x="4443984" y="46268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Vitest</a:t>
            </a:r>
            <a:endParaRPr lang="en-US" sz="1100" dirty="0"/>
          </a:p>
        </p:txBody>
      </p:sp>
      <p:pic>
        <p:nvPicPr>
          <p:cNvPr id="65" name="Playwright logo" descr="/tmp/claude-0/-home-claude/17197f10-95bd-5162-904f-deb4bd84845f/scratchpad/logos/image2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77840" y="4626864"/>
            <a:ext cx="329184" cy="329184"/>
          </a:xfrm>
          <a:prstGeom prst="rect">
            <a:avLst/>
          </a:prstGeom>
        </p:spPr>
      </p:pic>
      <p:sp>
        <p:nvSpPr>
          <p:cNvPr id="66" name="Playwright label"/>
          <p:cNvSpPr txBox="1"/>
          <p:nvPr/>
        </p:nvSpPr>
        <p:spPr>
          <a:xfrm>
            <a:off x="5998464" y="46268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Playwright</a:t>
            </a:r>
            <a:endParaRPr lang="en-US" sz="1100" dirty="0"/>
          </a:p>
        </p:txBody>
      </p:sp>
      <p:pic>
        <p:nvPicPr>
          <p:cNvPr id="67" name="GitHub Actions logo" descr="/tmp/claude-0/-home-claude/17197f10-95bd-5162-904f-deb4bd84845f/scratchpad/logos/image17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32320" y="4626864"/>
            <a:ext cx="329184" cy="329184"/>
          </a:xfrm>
          <a:prstGeom prst="rect">
            <a:avLst/>
          </a:prstGeom>
        </p:spPr>
      </p:pic>
      <p:sp>
        <p:nvSpPr>
          <p:cNvPr id="68" name="GitHub Actions label"/>
          <p:cNvSpPr txBox="1"/>
          <p:nvPr/>
        </p:nvSpPr>
        <p:spPr>
          <a:xfrm>
            <a:off x="7552944" y="46268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956048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71" name="Web request arrow">
            <a:extLst>
              <a:ext uri="{FF2B5EF4-FFF2-40B4-BE49-F238E27FC236}">
                <a16:creationId xmlns:a16="http://schemas.microsoft.com/office/drawing/2014/main" id="{D51E5CAE-88EC-E108-38F9-218CB4ED35EC}"/>
              </a:ext>
            </a:extLst>
          </p:cNvPr>
          <p:cNvSpPr/>
          <p:nvPr/>
        </p:nvSpPr>
        <p:spPr>
          <a:xfrm rot="16200000">
            <a:off x="3890772" y="3140964"/>
            <a:ext cx="265176" cy="0"/>
          </a:xfrm>
          <a:prstGeom prst="line">
            <a:avLst/>
          </a:prstGeom>
          <a:noFill/>
          <a:ln w="15875">
            <a:solidFill>
              <a:srgbClr val="8C8A7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quest API 2.9">
            <a:extLst>
              <a:ext uri="{FF2B5EF4-FFF2-40B4-BE49-F238E27FC236}">
                <a16:creationId xmlns:a16="http://schemas.microsoft.com/office/drawing/2014/main" id="{B9874152-F4B7-37BF-52A1-DD154A1A65A4}"/>
              </a:ext>
            </a:extLst>
          </p:cNvPr>
          <p:cNvSpPr txBox="1"/>
          <p:nvPr/>
        </p:nvSpPr>
        <p:spPr>
          <a:xfrm>
            <a:off x="3268980" y="3024378"/>
            <a:ext cx="7315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3"/>
                </a:solidFill>
              </a:rPr>
              <a:t>Request API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user story to code</a:t>
            </a:r>
            <a:endParaRPr lang="en-US" sz="3200" dirty="0"/>
          </a:p>
        </p:txBody>
      </p:sp>
      <p:sp>
        <p:nvSpPr>
          <p:cNvPr id="3" name="Story card"/>
          <p:cNvSpPr/>
          <p:nvPr/>
        </p:nvSpPr>
        <p:spPr>
          <a:xfrm>
            <a:off x="548640" y="1325880"/>
            <a:ext cx="4206240" cy="3246120"/>
          </a:xfrm>
          <a:prstGeom prst="roundRect">
            <a:avLst>
              <a:gd name="adj" fmla="val 22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Quote mark"/>
          <p:cNvSpPr txBox="1"/>
          <p:nvPr/>
        </p:nvSpPr>
        <p:spPr>
          <a:xfrm>
            <a:off x="777240" y="13258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Story text"/>
          <p:cNvSpPr txBox="1"/>
          <p:nvPr/>
        </p:nvSpPr>
        <p:spPr>
          <a:xfrm>
            <a:off x="822960" y="20116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chemeClr val="bg1"/>
                </a:solidFill>
              </a:rPr>
              <a:t>As a </a:t>
            </a:r>
            <a:r>
              <a:rPr lang="en-US" sz="1900" i="1">
                <a:solidFill>
                  <a:schemeClr val="bg1"/>
                </a:solidFill>
              </a:rPr>
              <a:t>user</a:t>
            </a:r>
            <a:r>
              <a:rPr lang="en-US" sz="1900" i="1" dirty="0">
                <a:solidFill>
                  <a:schemeClr val="bg1"/>
                </a:solidFill>
              </a:rPr>
              <a:t>, I want to upload an </a:t>
            </a:r>
            <a:r>
              <a:rPr lang="en-US" sz="1900" i="1">
                <a:solidFill>
                  <a:schemeClr val="bg1"/>
                </a:solidFill>
              </a:rPr>
              <a:t>image of an </a:t>
            </a:r>
            <a:r>
              <a:rPr lang="en-US" sz="1900" i="1" dirty="0">
                <a:solidFill>
                  <a:schemeClr val="bg1"/>
                </a:solidFill>
              </a:rPr>
              <a:t>Ancient Greek manuscript and </a:t>
            </a:r>
            <a:r>
              <a:rPr lang="en-US" sz="1900" i="1">
                <a:solidFill>
                  <a:schemeClr val="bg1"/>
                </a:solidFill>
              </a:rPr>
              <a:t>see the predicted words, their </a:t>
            </a:r>
            <a:r>
              <a:rPr lang="en-US" sz="1900" i="1" dirty="0">
                <a:solidFill>
                  <a:schemeClr val="bg1"/>
                </a:solidFill>
              </a:rPr>
              <a:t>transcription, </a:t>
            </a:r>
            <a:r>
              <a:rPr lang="en-US" sz="1900" i="1">
                <a:solidFill>
                  <a:schemeClr val="bg1"/>
                </a:solidFill>
              </a:rPr>
              <a:t>and their meaning, </a:t>
            </a:r>
            <a:r>
              <a:rPr lang="en-US" sz="1900" i="1" dirty="0">
                <a:solidFill>
                  <a:schemeClr val="bg1"/>
                </a:solidFill>
              </a:rPr>
              <a:t>so </a:t>
            </a:r>
            <a:r>
              <a:rPr lang="en-US" sz="1900" i="1">
                <a:solidFill>
                  <a:schemeClr val="bg1"/>
                </a:solidFill>
              </a:rPr>
              <a:t>that </a:t>
            </a:r>
            <a:r>
              <a:rPr lang="en-US" sz="1900" i="1" dirty="0">
                <a:solidFill>
                  <a:schemeClr val="bg1"/>
                </a:solidFill>
              </a:rPr>
              <a:t>I can understand the text.</a:t>
            </a:r>
            <a:endParaRPr lang="en-US" sz="1900" dirty="0"/>
          </a:p>
        </p:txBody>
      </p:sp>
      <p:sp>
        <p:nvSpPr>
          <p:cNvPr id="6" name="Story author"/>
          <p:cNvSpPr txBox="1"/>
          <p:nvPr/>
        </p:nvSpPr>
        <p:spPr>
          <a:xfrm>
            <a:off x="82296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— </a:t>
            </a:r>
            <a:r>
              <a:rPr lang="en-US" sz="1200" b="1">
                <a:solidFill>
                  <a:schemeClr val="accent1"/>
                </a:solidFill>
              </a:rPr>
              <a:t>PO</a:t>
            </a:r>
            <a:endParaRPr lang="en-US" sz="1200" dirty="0"/>
          </a:p>
        </p:txBody>
      </p:sp>
      <p:sp>
        <p:nvSpPr>
          <p:cNvPr id="7" name="Process 1 circle"/>
          <p:cNvSpPr/>
          <p:nvPr/>
        </p:nvSpPr>
        <p:spPr>
          <a:xfrm>
            <a:off x="521208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rocess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839" y="1456639"/>
            <a:ext cx="241402" cy="241402"/>
          </a:xfrm>
          <a:prstGeom prst="rect">
            <a:avLst/>
          </a:prstGeom>
        </p:spPr>
      </p:pic>
      <p:sp>
        <p:nvSpPr>
          <p:cNvPr id="9" name="Process line 1"/>
          <p:cNvSpPr/>
          <p:nvPr/>
        </p:nvSpPr>
        <p:spPr>
          <a:xfrm>
            <a:off x="5458968" y="1828800"/>
            <a:ext cx="0" cy="14630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Process 1 text"/>
          <p:cNvSpPr txBox="1"/>
          <p:nvPr/>
        </p:nvSpPr>
        <p:spPr>
          <a:xfrm>
            <a:off x="589788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Management</a:t>
            </a:r>
            <a:endParaRPr lang="en-US" sz="1400" dirty="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PO-defined </a:t>
            </a:r>
            <a:r>
              <a:rPr lang="en-US" sz="1100" dirty="0">
                <a:solidFill>
                  <a:schemeClr val="tx2"/>
                </a:solidFill>
              </a:rPr>
              <a:t>user </a:t>
            </a:r>
            <a:r>
              <a:rPr lang="en-US" sz="1100">
                <a:solidFill>
                  <a:schemeClr val="tx2"/>
                </a:solidFill>
              </a:rPr>
              <a:t>stories become GitHub milestones.</a:t>
            </a:r>
            <a:endParaRPr lang="en-US" sz="1400" dirty="0"/>
          </a:p>
        </p:txBody>
      </p:sp>
      <p:sp>
        <p:nvSpPr>
          <p:cNvPr id="11" name="Process 2 circle"/>
          <p:cNvSpPr/>
          <p:nvPr/>
        </p:nvSpPr>
        <p:spPr>
          <a:xfrm>
            <a:off x="5212080" y="197510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rocess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839" y="2105863"/>
            <a:ext cx="241401" cy="241401"/>
          </a:xfrm>
          <a:prstGeom prst="rect">
            <a:avLst/>
          </a:prstGeom>
        </p:spPr>
      </p:pic>
      <p:sp>
        <p:nvSpPr>
          <p:cNvPr id="13" name="Process line 2"/>
          <p:cNvSpPr/>
          <p:nvPr/>
        </p:nvSpPr>
        <p:spPr>
          <a:xfrm>
            <a:off x="5458968" y="2478024"/>
            <a:ext cx="0" cy="14630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Process 2 text"/>
          <p:cNvSpPr txBox="1"/>
          <p:nvPr/>
        </p:nvSpPr>
        <p:spPr>
          <a:xfrm>
            <a:off x="5897880" y="19751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Task breakdown</a:t>
            </a:r>
            <a:endParaRPr lang="en-US" sz="1400" dirty="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Each </a:t>
            </a:r>
            <a:r>
              <a:rPr lang="en-US" sz="1100" dirty="0">
                <a:solidFill>
                  <a:schemeClr val="tx2"/>
                </a:solidFill>
              </a:rPr>
              <a:t>milestone</a:t>
            </a:r>
            <a:r>
              <a:rPr lang="en-US" sz="1100">
                <a:solidFill>
                  <a:schemeClr val="tx2"/>
                </a:solidFill>
              </a:rPr>
              <a:t> is broken into smaller GitHub issues.</a:t>
            </a:r>
            <a:endParaRPr lang="en-US" sz="1400" dirty="0"/>
          </a:p>
        </p:txBody>
      </p:sp>
      <p:sp>
        <p:nvSpPr>
          <p:cNvPr id="15" name="Process 3 circle"/>
          <p:cNvSpPr/>
          <p:nvPr/>
        </p:nvSpPr>
        <p:spPr>
          <a:xfrm>
            <a:off x="5212080" y="26243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rocess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839" y="2755087"/>
            <a:ext cx="241401" cy="241401"/>
          </a:xfrm>
          <a:prstGeom prst="rect">
            <a:avLst/>
          </a:prstGeom>
        </p:spPr>
      </p:pic>
      <p:sp>
        <p:nvSpPr>
          <p:cNvPr id="17" name="Process line 3"/>
          <p:cNvSpPr/>
          <p:nvPr/>
        </p:nvSpPr>
        <p:spPr>
          <a:xfrm>
            <a:off x="5458968" y="3127248"/>
            <a:ext cx="0" cy="14630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Process 3 text"/>
          <p:cNvSpPr txBox="1"/>
          <p:nvPr/>
        </p:nvSpPr>
        <p:spPr>
          <a:xfrm>
            <a:off x="5897880" y="26243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Task types</a:t>
            </a:r>
            <a:endParaRPr lang="en-US" sz="1400" dirty="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Web · Mobile · Backend · Design · Spike — research &amp; technical investigation</a:t>
            </a:r>
            <a:endParaRPr lang="en-US" sz="1400" dirty="0"/>
          </a:p>
        </p:txBody>
      </p:sp>
      <p:sp>
        <p:nvSpPr>
          <p:cNvPr id="19" name="Process 4 circle"/>
          <p:cNvSpPr/>
          <p:nvPr/>
        </p:nvSpPr>
        <p:spPr>
          <a:xfrm>
            <a:off x="5212080" y="32735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rocess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2839" y="3404311"/>
            <a:ext cx="241401" cy="241401"/>
          </a:xfrm>
          <a:prstGeom prst="rect">
            <a:avLst/>
          </a:prstGeom>
        </p:spPr>
      </p:pic>
      <p:sp>
        <p:nvSpPr>
          <p:cNvPr id="21" name="Process 4 text"/>
          <p:cNvSpPr txBox="1"/>
          <p:nvPr/>
        </p:nvSpPr>
        <p:spPr>
          <a:xfrm>
            <a:off x="5897880" y="3273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PR collaboration</a:t>
            </a:r>
            <a:endParaRPr lang="en-US" sz="140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Team discussions, code reviews &amp; technical decisions happen through PRs.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26" name="Process 3 circle"/>
          <p:cNvSpPr/>
          <p:nvPr/>
        </p:nvSpPr>
        <p:spPr>
          <a:xfrm>
            <a:off x="5212080" y="392277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Process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839" y="4053535"/>
            <a:ext cx="241401" cy="241401"/>
          </a:xfrm>
          <a:prstGeom prst="rect">
            <a:avLst/>
          </a:prstGeom>
        </p:spPr>
      </p:pic>
      <p:sp>
        <p:nvSpPr>
          <p:cNvPr id="28" name="Process line 3"/>
          <p:cNvSpPr/>
          <p:nvPr/>
        </p:nvSpPr>
        <p:spPr>
          <a:xfrm>
            <a:off x="5458968" y="3776472"/>
            <a:ext cx="0" cy="14630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Process 4 text"/>
          <p:cNvSpPr txBox="1"/>
          <p:nvPr/>
        </p:nvSpPr>
        <p:spPr>
          <a:xfrm>
            <a:off x="5897880" y="39227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Progress tracking</a:t>
            </a:r>
            <a:endParaRPr lang="en-US" sz="140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Issues &amp; pull requests track implementation progress and feedback.</a:t>
            </a:r>
            <a:endParaRPr lang="en-US" sz="140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Continuous integration</a:t>
            </a:r>
            <a:endParaRPr lang="en-US" sz="3200" dirty="0"/>
          </a:p>
        </p:txBody>
      </p:sp>
      <p:sp>
        <p:nvSpPr>
          <p:cNvPr id="3" name="CI subtitle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Every pull request and every push to develop and main is checked automatically</a:t>
            </a:r>
            <a:endParaRPr lang="en-US" sz="1300" dirty="0"/>
          </a:p>
        </p:txBody>
      </p:sp>
      <p:sp>
        <p:nvSpPr>
          <p:cNvPr id="4" name="Frontend CI card"/>
          <p:cNvSpPr/>
          <p:nvPr/>
        </p:nvSpPr>
        <p:spPr>
          <a:xfrm>
            <a:off x="548640" y="1463040"/>
            <a:ext cx="1874520" cy="23317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rontend CI circle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Frontend CI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5" y="1752905"/>
            <a:ext cx="197510" cy="197510"/>
          </a:xfrm>
          <a:prstGeom prst="rect">
            <a:avLst/>
          </a:prstGeom>
        </p:spPr>
      </p:pic>
      <p:sp>
        <p:nvSpPr>
          <p:cNvPr id="7" name="Frontend CI title"/>
          <p:cNvSpPr txBox="1"/>
          <p:nvPr/>
        </p:nvSpPr>
        <p:spPr>
          <a:xfrm>
            <a:off x="123444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Frontend</a:t>
            </a:r>
            <a:endParaRPr lang="en-US" sz="1500" dirty="0"/>
          </a:p>
        </p:txBody>
      </p:sp>
      <p:sp>
        <p:nvSpPr>
          <p:cNvPr id="8" name="Frontend CI tools"/>
          <p:cNvSpPr txBox="1"/>
          <p:nvPr/>
        </p:nvSpPr>
        <p:spPr>
          <a:xfrm>
            <a:off x="73152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ESLint · Prettier · tsc · Vitest</a:t>
            </a:r>
            <a:endParaRPr lang="en-US" sz="900" dirty="0"/>
          </a:p>
        </p:txBody>
      </p:sp>
      <p:sp>
        <p:nvSpPr>
          <p:cNvPr id="9" name="Frontend CI list"/>
          <p:cNvSpPr txBox="1"/>
          <p:nvPr/>
        </p:nvSpPr>
        <p:spPr>
          <a:xfrm>
            <a:off x="731520" y="2450592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chemeClr val="tx2"/>
                </a:solidFill>
              </a:rPr>
              <a:t>Lint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chemeClr val="tx2"/>
                </a:solidFill>
              </a:rPr>
              <a:t>Format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chemeClr val="tx2"/>
                </a:solidFill>
              </a:rPr>
              <a:t>Type check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chemeClr val="tx2"/>
                </a:solidFill>
              </a:rPr>
              <a:t>Unit tests</a:t>
            </a:r>
            <a:endParaRPr lang="en-US" sz="1200" dirty="0"/>
          </a:p>
        </p:txBody>
      </p:sp>
      <p:sp>
        <p:nvSpPr>
          <p:cNvPr id="10" name="Backend CI card"/>
          <p:cNvSpPr/>
          <p:nvPr/>
        </p:nvSpPr>
        <p:spPr>
          <a:xfrm>
            <a:off x="2560320" y="1463040"/>
            <a:ext cx="1874520" cy="23317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ackend CI circle"/>
          <p:cNvSpPr/>
          <p:nvPr/>
        </p:nvSpPr>
        <p:spPr>
          <a:xfrm>
            <a:off x="2743200" y="1645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Backend CI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185" y="1752905"/>
            <a:ext cx="197510" cy="197510"/>
          </a:xfrm>
          <a:prstGeom prst="rect">
            <a:avLst/>
          </a:prstGeom>
        </p:spPr>
      </p:pic>
      <p:sp>
        <p:nvSpPr>
          <p:cNvPr id="13" name="Backend CI title"/>
          <p:cNvSpPr txBox="1"/>
          <p:nvPr/>
        </p:nvSpPr>
        <p:spPr>
          <a:xfrm>
            <a:off x="324612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Backend</a:t>
            </a:r>
            <a:endParaRPr lang="en-US" sz="1500" dirty="0"/>
          </a:p>
        </p:txBody>
      </p:sp>
      <p:sp>
        <p:nvSpPr>
          <p:cNvPr id="14" name="Backend CI tools"/>
          <p:cNvSpPr txBox="1"/>
          <p:nvPr/>
        </p:nvSpPr>
        <p:spPr>
          <a:xfrm>
            <a:off x="274320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Ruff · mypy (strict) · pytest · Bruno</a:t>
            </a:r>
            <a:endParaRPr lang="en-US" sz="900" dirty="0"/>
          </a:p>
        </p:txBody>
      </p:sp>
      <p:sp>
        <p:nvSpPr>
          <p:cNvPr id="15" name="Backend CI list"/>
          <p:cNvSpPr txBox="1"/>
          <p:nvPr/>
        </p:nvSpPr>
        <p:spPr>
          <a:xfrm>
            <a:off x="2743200" y="2450592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chemeClr val="tx2"/>
                </a:solidFill>
              </a:rPr>
              <a:t>Lint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chemeClr val="tx2"/>
                </a:solidFill>
              </a:rPr>
              <a:t>Format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chemeClr val="tx2"/>
                </a:solidFill>
              </a:rPr>
              <a:t>Type check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chemeClr val="tx2"/>
                </a:solidFill>
              </a:rPr>
              <a:t>Unit tests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chemeClr val="tx2"/>
                </a:solidFill>
              </a:rPr>
              <a:t>API tests</a:t>
            </a:r>
            <a:endParaRPr lang="en-US" sz="1200" dirty="0"/>
          </a:p>
        </p:txBody>
      </p:sp>
      <p:sp>
        <p:nvSpPr>
          <p:cNvPr id="16" name="Mobile CI card"/>
          <p:cNvSpPr/>
          <p:nvPr/>
        </p:nvSpPr>
        <p:spPr>
          <a:xfrm>
            <a:off x="4572000" y="1463040"/>
            <a:ext cx="1874520" cy="23317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Mobile CI circle"/>
          <p:cNvSpPr/>
          <p:nvPr/>
        </p:nvSpPr>
        <p:spPr>
          <a:xfrm>
            <a:off x="4754880" y="1645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Mobile CI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865" y="1752905"/>
            <a:ext cx="197510" cy="197510"/>
          </a:xfrm>
          <a:prstGeom prst="rect">
            <a:avLst/>
          </a:prstGeom>
        </p:spPr>
      </p:pic>
      <p:sp>
        <p:nvSpPr>
          <p:cNvPr id="19" name="Mobile CI title"/>
          <p:cNvSpPr txBox="1"/>
          <p:nvPr/>
        </p:nvSpPr>
        <p:spPr>
          <a:xfrm>
            <a:off x="52578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Mobile</a:t>
            </a:r>
            <a:endParaRPr lang="en-US" sz="1500" dirty="0"/>
          </a:p>
        </p:txBody>
      </p:sp>
      <p:sp>
        <p:nvSpPr>
          <p:cNvPr id="20" name="Mobile CI tools"/>
          <p:cNvSpPr txBox="1"/>
          <p:nvPr/>
        </p:nvSpPr>
        <p:spPr>
          <a:xfrm>
            <a:off x="475488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kotlin.test · Gradle</a:t>
            </a:r>
            <a:endParaRPr lang="en-US" sz="900" dirty="0"/>
          </a:p>
        </p:txBody>
      </p:sp>
      <p:sp>
        <p:nvSpPr>
          <p:cNvPr id="21" name="Mobile CI list"/>
          <p:cNvSpPr txBox="1"/>
          <p:nvPr/>
        </p:nvSpPr>
        <p:spPr>
          <a:xfrm>
            <a:off x="4754880" y="2450592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chemeClr val="tx2"/>
                </a:solidFill>
              </a:rPr>
              <a:t>Unit tests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chemeClr val="tx2"/>
                </a:solidFill>
              </a:rPr>
              <a:t>Android build</a:t>
            </a:r>
            <a:endParaRPr lang="en-US" sz="1200" dirty="0"/>
          </a:p>
        </p:txBody>
      </p:sp>
      <p:sp>
        <p:nvSpPr>
          <p:cNvPr id="22" name="Docs CI card"/>
          <p:cNvSpPr/>
          <p:nvPr/>
        </p:nvSpPr>
        <p:spPr>
          <a:xfrm>
            <a:off x="6583680" y="1463040"/>
            <a:ext cx="1874520" cy="23317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Docs CI circle"/>
          <p:cNvSpPr/>
          <p:nvPr/>
        </p:nvSpPr>
        <p:spPr>
          <a:xfrm>
            <a:off x="6766560" y="1645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Docs CI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3545" y="1752905"/>
            <a:ext cx="197510" cy="197510"/>
          </a:xfrm>
          <a:prstGeom prst="rect">
            <a:avLst/>
          </a:prstGeom>
        </p:spPr>
      </p:pic>
      <p:sp>
        <p:nvSpPr>
          <p:cNvPr id="25" name="Docs CI title"/>
          <p:cNvSpPr txBox="1"/>
          <p:nvPr/>
        </p:nvSpPr>
        <p:spPr>
          <a:xfrm>
            <a:off x="726948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Docs</a:t>
            </a:r>
            <a:endParaRPr lang="en-US" sz="1500" dirty="0"/>
          </a:p>
        </p:txBody>
      </p:sp>
      <p:sp>
        <p:nvSpPr>
          <p:cNvPr id="26" name="Docs CI tools"/>
          <p:cNvSpPr txBox="1"/>
          <p:nvPr/>
        </p:nvSpPr>
        <p:spPr>
          <a:xfrm>
            <a:off x="676656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3"/>
                </a:solidFill>
              </a:rPr>
              <a:t>check-docs.py</a:t>
            </a:r>
            <a:endParaRPr lang="en-US" sz="900" dirty="0"/>
          </a:p>
        </p:txBody>
      </p:sp>
      <p:sp>
        <p:nvSpPr>
          <p:cNvPr id="27" name="Docs CI list"/>
          <p:cNvSpPr txBox="1"/>
          <p:nvPr/>
        </p:nvSpPr>
        <p:spPr>
          <a:xfrm>
            <a:off x="6766560" y="2450592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chemeClr val="tx2"/>
                </a:solidFill>
              </a:rPr>
              <a:t>Broken links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chemeClr val="tx2"/>
                </a:solidFill>
              </a:rPr>
              <a:t>Line numbers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200" dirty="0">
                <a:solidFill>
                  <a:schemeClr val="tx2"/>
                </a:solidFill>
              </a:rPr>
              <a:t>Stale paths</a:t>
            </a:r>
            <a:endParaRPr lang="en-US" sz="1200" dirty="0"/>
          </a:p>
        </p:txBody>
      </p:sp>
      <p:sp>
        <p:nvSpPr>
          <p:cNvPr id="28" name="Hooks bar"/>
          <p:cNvSpPr/>
          <p:nvPr/>
        </p:nvSpPr>
        <p:spPr>
          <a:xfrm>
            <a:off x="548640" y="397764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Hooks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087368"/>
            <a:ext cx="329184" cy="329184"/>
          </a:xfrm>
          <a:prstGeom prst="rect">
            <a:avLst/>
          </a:prstGeom>
        </p:spPr>
      </p:pic>
      <p:sp>
        <p:nvSpPr>
          <p:cNvPr id="30" name="Hooks text"/>
          <p:cNvSpPr txBox="1"/>
          <p:nvPr/>
        </p:nvSpPr>
        <p:spPr>
          <a:xfrm>
            <a:off x="1234440" y="39776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Git hooks: </a:t>
            </a:r>
            <a:r>
              <a:rPr lang="en-US" sz="1300" dirty="0">
                <a:solidFill>
                  <a:schemeClr val="bg1"/>
                </a:solidFill>
              </a:rPr>
              <a:t>pre-push runs the same checks as CI before code reaches a PR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chemeClr val="accent1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bg1"/>
                </a:solidFill>
              </a:rPr>
              <a:t>Four priorities for the next phase</a:t>
            </a:r>
            <a:endParaRPr lang="en-US" sz="3400" dirty="0"/>
          </a:p>
        </p:txBody>
      </p:sp>
      <p:sp>
        <p:nvSpPr>
          <p:cNvPr id="17" name="Priority 01 number"/>
          <p:cNvSpPr txBox="1"/>
          <p:nvPr/>
        </p:nvSpPr>
        <p:spPr>
          <a:xfrm>
            <a:off x="548640" y="166420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18" name="Priority 01 title"/>
          <p:cNvSpPr txBox="1"/>
          <p:nvPr/>
        </p:nvSpPr>
        <p:spPr>
          <a:xfrm>
            <a:off x="1051560" y="1664208"/>
            <a:ext cx="324611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chemeClr val="bg1"/>
                </a:solidFill>
              </a:rPr>
              <a:t>Complete manuscript transcription</a:t>
            </a:r>
          </a:p>
        </p:txBody>
      </p:sp>
      <p:sp>
        <p:nvSpPr>
          <p:cNvPr id="19" name="Priority 01 description"/>
          <p:cNvSpPr txBox="1"/>
          <p:nvPr/>
        </p:nvSpPr>
        <p:spPr>
          <a:xfrm>
            <a:off x="1051560" y="1947672"/>
            <a:ext cx="32461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chemeClr val="accent5"/>
                </a:solidFill>
              </a:rPr>
              <a:t>Implement and improve end-to-end recognition and transcription for Ancient Greek manuscripts.</a:t>
            </a:r>
          </a:p>
        </p:txBody>
      </p:sp>
      <p:sp>
        <p:nvSpPr>
          <p:cNvPr id="20" name="Priority 02 number"/>
          <p:cNvSpPr txBox="1"/>
          <p:nvPr/>
        </p:nvSpPr>
        <p:spPr>
          <a:xfrm>
            <a:off x="548640" y="2999232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chemeClr val="accent1"/>
                </a:solidFill>
              </a:rPr>
              <a:t>02</a:t>
            </a:r>
          </a:p>
        </p:txBody>
      </p:sp>
      <p:sp>
        <p:nvSpPr>
          <p:cNvPr id="21" name="Priority 02 title"/>
          <p:cNvSpPr txBox="1"/>
          <p:nvPr/>
        </p:nvSpPr>
        <p:spPr>
          <a:xfrm>
            <a:off x="1051560" y="2999232"/>
            <a:ext cx="324611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dirty="0">
                <a:solidFill>
                  <a:schemeClr val="bg1"/>
                </a:solidFill>
              </a:rPr>
              <a:t>Word-level translation and understanding</a:t>
            </a:r>
          </a:p>
        </p:txBody>
      </p:sp>
      <p:sp>
        <p:nvSpPr>
          <p:cNvPr id="22" name="Priority 02 description"/>
          <p:cNvSpPr txBox="1"/>
          <p:nvPr/>
        </p:nvSpPr>
        <p:spPr>
          <a:xfrm>
            <a:off x="1051560" y="3282696"/>
            <a:ext cx="32461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chemeClr val="accent5"/>
                </a:solidFill>
              </a:rPr>
              <a:t>Offer translations, lemmas and definitions; support a chosen language where available.</a:t>
            </a:r>
          </a:p>
        </p:txBody>
      </p:sp>
      <p:sp>
        <p:nvSpPr>
          <p:cNvPr id="26" name="Priority 03 number"/>
          <p:cNvSpPr txBox="1"/>
          <p:nvPr/>
        </p:nvSpPr>
        <p:spPr>
          <a:xfrm>
            <a:off x="4645152" y="1673462"/>
            <a:ext cx="420624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900" b="1">
                <a:solidFill>
                  <a:schemeClr val="accent1"/>
                </a:solidFill>
              </a:rPr>
              <a:t>03</a:t>
            </a:r>
            <a:endParaRPr sz="1900" b="1">
              <a:solidFill>
                <a:schemeClr val="accent1"/>
              </a:solidFill>
            </a:endParaRPr>
          </a:p>
        </p:txBody>
      </p:sp>
      <p:sp>
        <p:nvSpPr>
          <p:cNvPr id="27" name="Priority 03 title"/>
          <p:cNvSpPr txBox="1"/>
          <p:nvPr/>
        </p:nvSpPr>
        <p:spPr>
          <a:xfrm>
            <a:off x="5148072" y="1664208"/>
            <a:ext cx="324611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dirty="0">
                <a:solidFill>
                  <a:schemeClr val="bg1"/>
                </a:solidFill>
              </a:rPr>
              <a:t>Personal vocabulary and learning</a:t>
            </a:r>
          </a:p>
        </p:txBody>
      </p:sp>
      <p:sp>
        <p:nvSpPr>
          <p:cNvPr id="28" name="Priority 03 description"/>
          <p:cNvSpPr txBox="1"/>
          <p:nvPr/>
        </p:nvSpPr>
        <p:spPr>
          <a:xfrm>
            <a:off x="5148072" y="1947672"/>
            <a:ext cx="324611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chemeClr val="accent5"/>
                </a:solidFill>
              </a:rPr>
              <a:t>Explore saved words, notes and review alongside the existing history feature.</a:t>
            </a:r>
          </a:p>
        </p:txBody>
      </p:sp>
      <p:sp>
        <p:nvSpPr>
          <p:cNvPr id="29" name="Priority 04 number"/>
          <p:cNvSpPr txBox="1"/>
          <p:nvPr/>
        </p:nvSpPr>
        <p:spPr>
          <a:xfrm>
            <a:off x="4645152" y="3008486"/>
            <a:ext cx="420624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900" b="1">
                <a:solidFill>
                  <a:schemeClr val="accent1"/>
                </a:solidFill>
              </a:rPr>
              <a:t>04</a:t>
            </a:r>
            <a:endParaRPr sz="1900" b="1">
              <a:solidFill>
                <a:schemeClr val="accent1"/>
              </a:solidFill>
            </a:endParaRPr>
          </a:p>
        </p:txBody>
      </p:sp>
      <p:sp>
        <p:nvSpPr>
          <p:cNvPr id="30" name="Priority 04 title"/>
          <p:cNvSpPr txBox="1"/>
          <p:nvPr/>
        </p:nvSpPr>
        <p:spPr>
          <a:xfrm>
            <a:off x="5148072" y="2999232"/>
            <a:ext cx="324611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 dirty="0">
                <a:solidFill>
                  <a:schemeClr val="bg1"/>
                </a:solidFill>
              </a:rPr>
              <a:t>User feedback and model improvement</a:t>
            </a:r>
          </a:p>
        </p:txBody>
      </p:sp>
      <p:sp>
        <p:nvSpPr>
          <p:cNvPr id="31" name="Priority 04 description"/>
          <p:cNvSpPr txBox="1"/>
          <p:nvPr/>
        </p:nvSpPr>
        <p:spPr>
          <a:xfrm>
            <a:off x="5148072" y="3282696"/>
            <a:ext cx="32461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chemeClr val="accent5"/>
                </a:solidFill>
              </a:rPr>
              <a:t>Let users report errors and submit corrections for review; explore validated corrections as future training data.</a:t>
            </a:r>
          </a:p>
        </p:txBody>
      </p:sp>
      <p:sp>
        <p:nvSpPr>
          <p:cNvPr id="32" name="Positioning rule"/>
          <p:cNvSpPr/>
          <p:nvPr/>
        </p:nvSpPr>
        <p:spPr>
          <a:xfrm>
            <a:off x="548640" y="4224528"/>
            <a:ext cx="8046720" cy="228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173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chemeClr val="bg1"/>
                </a:solidFill>
              </a:rPr>
              <a:t>Thank you</a:t>
            </a:r>
            <a:endParaRPr lang="en-US" sz="3400"/>
          </a:p>
        </p:txBody>
      </p:sp>
      <p:sp>
        <p:nvSpPr>
          <p:cNvPr id="18" name="Priority 01 title"/>
          <p:cNvSpPr txBox="1"/>
          <p:nvPr/>
        </p:nvSpPr>
        <p:spPr>
          <a:xfrm>
            <a:off x="731520" y="2423160"/>
            <a:ext cx="76809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19" name="Priority 01 description"/>
          <p:cNvSpPr txBox="1"/>
          <p:nvPr/>
        </p:nvSpPr>
        <p:spPr>
          <a:xfrm>
            <a:off x="731520" y="3456432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chemeClr val="accent5"/>
                </a:solidFill>
              </a:rPr>
              <a:t>BoleYi · Andriana · Kobiljon · Priyanka · Tom</a:t>
            </a:r>
          </a:p>
        </p:txBody>
      </p:sp>
      <p:sp>
        <p:nvSpPr>
          <p:cNvPr id="32" name="Positioning rule"/>
          <p:cNvSpPr/>
          <p:nvPr/>
        </p:nvSpPr>
        <p:spPr>
          <a:xfrm>
            <a:off x="3520440" y="3063240"/>
            <a:ext cx="2103120" cy="228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uscript Chartreuse">
  <a:themeElements>
    <a:clrScheme name="Manuscript Chartreuse">
      <a:dk1>
        <a:srgbClr val="1C1B17"/>
      </a:dk1>
      <a:lt1>
        <a:srgbClr val="FFFFFF"/>
      </a:lt1>
      <a:dk2>
        <a:srgbClr val="4A4840"/>
      </a:dk2>
      <a:lt2>
        <a:srgbClr val="F3F3EC"/>
      </a:lt2>
      <a:accent1>
        <a:srgbClr val="D9F23A"/>
      </a:accent1>
      <a:accent2>
        <a:srgbClr val="1C1B17"/>
      </a:accent2>
      <a:accent3>
        <a:srgbClr val="8C8A7E"/>
      </a:accent3>
      <a:accent4>
        <a:srgbClr val="B5CC2E"/>
      </a:accent4>
      <a:accent5>
        <a:srgbClr val="E8E8E0"/>
      </a:accent5>
      <a:accent6>
        <a:srgbClr val="C9A96E"/>
      </a:accent6>
      <a:hlink>
        <a:srgbClr val="4A4840"/>
      </a:hlink>
      <a:folHlink>
        <a:srgbClr val="8C8A7E"/>
      </a:folHlink>
    </a:clrScheme>
    <a:fontScheme name="Manuscript Chartreu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768</Words>
  <Application>Microsoft Macintosh PowerPoint</Application>
  <PresentationFormat>On-screen Show (16:9)</PresentationFormat>
  <Paragraphs>139</Paragraphs>
  <Slides>8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Manuscript Chartreuse</vt:lpstr>
      <vt:lpstr>From manuscript image
to understanding</vt:lpstr>
      <vt:lpstr>What we will cover</vt:lpstr>
      <vt:lpstr>Live demonstration</vt:lpstr>
      <vt:lpstr>Technology stack</vt:lpstr>
      <vt:lpstr>From user story to code</vt:lpstr>
      <vt:lpstr>Continuous integration</vt:lpstr>
      <vt:lpstr>Four priorities for the next phase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Ancient Greek Transcription and Translation from Picture</dc:title>
  <dc:subject>PptxGenJS Presentation</dc:subject>
  <dc:creator>Team 4</dc:creator>
  <cp:lastModifiedBy>Andriana Sima</cp:lastModifiedBy>
  <cp:revision>5</cp:revision>
  <dcterms:created xsi:type="dcterms:W3CDTF">2026-10-23T20:59:51Z</dcterms:created>
  <dcterms:modified xsi:type="dcterms:W3CDTF">2026-10-26T23:12:31Z</dcterms:modified>
</cp:coreProperties>
</file>